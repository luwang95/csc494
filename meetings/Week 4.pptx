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3"/>
  </p:normalViewPr>
  <p:slideViewPr>
    <p:cSldViewPr snapToGrid="0">
      <p:cViewPr varScale="1">
        <p:scale>
          <a:sx n="115" d="100"/>
          <a:sy n="115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AEE4-9A5B-DBDC-9EDC-0735C2489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70329-F755-B8EB-2279-B0E377B4B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D4556-8FB0-7987-2F8D-8B29BFEF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E906C-868F-67E9-0FED-52C32BC5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B5F4F-BFB1-E687-9CDB-7BCBDC13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0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9A58-5510-7522-EE26-A657C3E0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6881B-D397-DB2D-612A-4327744F1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8D9B7-3617-2BB4-0DA7-7408D8CEA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EEE8-BF7B-1824-AD1B-252B51F3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68565-84DE-C22C-C16C-B7751150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8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A224-559F-8DDD-FA8E-3753682FB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F2D29-70C6-4DA3-A2C9-239E6CEDA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5AC4E-2EC4-D765-DD36-2B8DFFD2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FCCB5-1FEF-3746-0E01-D51567D1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50D27-D14B-93CE-F91E-03E22B38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6DEE-AE92-4CBC-8771-DD4483A4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81119-9E22-3E8E-5EE4-8E6263E72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890B6-3925-4B83-38E9-99C6AEB4C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54458-4312-7340-4BC4-2F123A59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1B941-915D-14B8-B2C9-748877C9A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881B8-1BFE-2843-B393-AB429D5B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7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06B1-D5B8-4EBC-7F7D-9FB78C095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F85B9-1F5D-2596-1A65-9F93509F3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4A386-FBD3-EB43-AD24-6FD444485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85B7D-7640-5913-6C2F-D46A083E9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7E170-EE77-289D-FE3B-07D78B4E1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C40BE0-9691-76DE-E06D-FDEA98D0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4F873-1EC3-9EDD-06FE-E1B70F75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371FC-DF99-9854-95BD-2F8D830B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3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DDAF-EE52-D61E-2076-588F6CE7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59829-E27D-6B6B-4B49-F2CF59BA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BA992-8CBA-436D-EE45-C6203CDF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899FF-13E9-AF82-7708-240083C2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8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ADC3A-FD60-3C86-1522-30646026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C0159-A498-F35B-70CA-0D5BA9F4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A1231-AA0C-D4A4-0AA4-D658F897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4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B836-EF56-44CE-8CAF-D78F5AFA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CE53B-EECC-9439-1104-EFE137132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EC368-1B5F-6813-640A-DD63B4BC9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4916D-6A16-5D25-1C2F-5D9F747E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303F5-FD25-62C7-090B-1D350E25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4C0B-6A64-463D-8C5F-ABDA6A6D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4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E9A3-AF84-657A-B59C-522C910A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D894D-FF6E-9E46-604B-D62711CD8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3CDAE-26B8-13D8-259A-053CBBB9F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FEA0C-3843-4F62-5AA3-D44E897D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B866E-FE76-6A62-BD3B-CFEF62B3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735C-1908-DE80-3954-22968A81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1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1C22-4117-CD3F-4555-D2486007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F1D59-FE8C-AA3D-15B8-7ED6E0ACF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9788D-6322-C1F1-67E1-932D32E2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AD050-CC1C-EFD1-E576-7E76EED6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2851B-DF7F-F7DA-0621-8B1F5D64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04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397C5-F66E-D332-83DA-0F6E463F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61A51-B296-A686-EFDC-06AD52138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CF352-8F6C-E150-AC26-373DFB31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EDDBA-8BA6-173D-F55F-83387DB0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AE63D-25AE-8FED-34E2-88B4A9E3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6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27649E-BF9A-4CB7-C004-AF0AE6B04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BBBE7-1A57-D840-5C33-9294DA5D2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A29F-6DB6-A296-FA11-641AB9D78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36AF5-C79A-CC49-AD19-3CD0C0017D1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F5175-2FB2-E687-B98C-FCB67F567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0C3FC-DCF5-F283-0CDE-D636DAD7D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704BF-0525-404F-8E4E-F63A9D42F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3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ciml.ai/Overview/stable/showcase/missing_physics/?utm_source=chatgpt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8533-D934-1C71-122B-23094AE4E4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68E53-89AD-10F1-BFF3-41769822A2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3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215E6-74F7-BB6D-460D-F96164EA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DA0F9-6888-345B-736A-294845278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residual neural ode indeed is kind of UDE. However, UDE may contain more than neural ode.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Usefulwebsite:</a:t>
            </a:r>
            <a:r>
              <a:rPr lang="en-US" dirty="0" err="1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err="1">
                <a:hlinkClick r:id="rId2"/>
              </a:rPr>
              <a:t>docs.sciml.ai</a:t>
            </a:r>
            <a:r>
              <a:rPr lang="en-US" dirty="0">
                <a:hlinkClick r:id="rId2"/>
              </a:rPr>
              <a:t>/Overview/stable/showcase/</a:t>
            </a:r>
            <a:r>
              <a:rPr lang="en-US" dirty="0" err="1">
                <a:hlinkClick r:id="rId2"/>
              </a:rPr>
              <a:t>missing_physics</a:t>
            </a:r>
            <a:r>
              <a:rPr lang="en-US" dirty="0">
                <a:hlinkClick r:id="rId2"/>
              </a:rPr>
              <a:t>/?</a:t>
            </a:r>
            <a:r>
              <a:rPr lang="en-US" dirty="0" err="1">
                <a:hlinkClick r:id="rId2"/>
              </a:rPr>
              <a:t>utm_source</a:t>
            </a:r>
            <a:r>
              <a:rPr lang="en-US" dirty="0">
                <a:hlinkClick r:id="rId2"/>
              </a:rPr>
              <a:t>=</a:t>
            </a:r>
            <a:r>
              <a:rPr lang="en-US" dirty="0" err="1">
                <a:hlinkClick r:id="rId2"/>
              </a:rPr>
              <a:t>chatgpt.com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027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C275-9AA7-5C80-97E3-66AF9BF0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separate model error and solver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66A2-233A-ACAB-D21B-FEC3BC4C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Cross-solver transfer</a:t>
            </a:r>
          </a:p>
          <a:p>
            <a:pPr marL="0" indent="0">
              <a:buNone/>
            </a:pPr>
            <a:r>
              <a:rPr lang="en-US" dirty="0"/>
              <a:t>For example: train the neural ode using </a:t>
            </a:r>
            <a:r>
              <a:rPr lang="en-US" dirty="0" err="1"/>
              <a:t>euler</a:t>
            </a:r>
            <a:r>
              <a:rPr lang="en-US" dirty="0"/>
              <a:t>, and we get the final NN, use RK45 to roll out, compute the loss, and compare with </a:t>
            </a:r>
            <a:r>
              <a:rPr lang="en-US" dirty="0" err="1"/>
              <a:t>euler</a:t>
            </a:r>
            <a:r>
              <a:rPr lang="en-US" dirty="0"/>
              <a:t> rollout. If the residual term is learning true physics, loss should be reduced.</a:t>
            </a:r>
          </a:p>
          <a:p>
            <a:r>
              <a:rPr lang="en-US" dirty="0"/>
              <a:t>Whether residual term converges when step size is relatively  small.</a:t>
            </a:r>
          </a:p>
          <a:p>
            <a:r>
              <a:rPr lang="en-US" dirty="0"/>
              <a:t>Order of the loss compared with h.</a:t>
            </a:r>
          </a:p>
        </p:txBody>
      </p:sp>
    </p:spTree>
    <p:extLst>
      <p:ext uri="{BB962C8B-B14F-4D97-AF65-F5344CB8AC3E}">
        <p14:creationId xmlns:p14="http://schemas.microsoft.com/office/powerpoint/2010/main" val="211991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4CAD-FF73-C3D3-58FA-1EF985F6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          	Identifiability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27ACD-B354-97D0-77D8-DA47C7F2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 of the loss compared with h.</a:t>
            </a:r>
          </a:p>
          <a:p>
            <a:r>
              <a:rPr lang="en-US" dirty="0"/>
              <a:t>We can say residual term is compensating the solver error when solver is O(</a:t>
            </a:r>
            <a:r>
              <a:rPr lang="en-US" dirty="0" err="1"/>
              <a:t>h^n</a:t>
            </a:r>
            <a:r>
              <a:rPr lang="en-US" dirty="0"/>
              <a:t>).</a:t>
            </a:r>
          </a:p>
          <a:p>
            <a:r>
              <a:rPr lang="en-US" dirty="0"/>
              <a:t>However, we can’t say residual term is  not compensating the solver error when we don’t see the pattern.</a:t>
            </a:r>
          </a:p>
        </p:txBody>
      </p:sp>
    </p:spTree>
    <p:extLst>
      <p:ext uri="{BB962C8B-B14F-4D97-AF65-F5344CB8AC3E}">
        <p14:creationId xmlns:p14="http://schemas.microsoft.com/office/powerpoint/2010/main" val="1270144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FFAB-5959-DC35-32E8-9FF917E5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3635B-9648-2085-4BB1-230173648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Cross-solver transfer</a:t>
            </a:r>
          </a:p>
          <a:p>
            <a:pPr marL="0" indent="0">
              <a:buNone/>
            </a:pPr>
            <a:r>
              <a:rPr lang="en-US" dirty="0"/>
              <a:t>We can’t say residual term is  not compensating the solver error if the loss is similarly or reduced using a high-order method.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38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DD0B-BB73-4EC1-23AF-7F8E460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                  Random Solver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9DDF2-223B-F909-7181-8DE9B49E4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Perhaps a good way to reduce solver error compensation</a:t>
            </a:r>
          </a:p>
        </p:txBody>
      </p:sp>
    </p:spTree>
    <p:extLst>
      <p:ext uri="{BB962C8B-B14F-4D97-AF65-F5344CB8AC3E}">
        <p14:creationId xmlns:p14="http://schemas.microsoft.com/office/powerpoint/2010/main" val="169683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8ED8-805A-D2B9-867F-AFDC9B54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At what condition we can say residual term is mainly learning the true physics.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2EEA8-A5CE-9ECB-F5B3-3021E8216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Regularization term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Different solver</a:t>
            </a:r>
          </a:p>
        </p:txBody>
      </p:sp>
    </p:spTree>
    <p:extLst>
      <p:ext uri="{BB962C8B-B14F-4D97-AF65-F5344CB8AC3E}">
        <p14:creationId xmlns:p14="http://schemas.microsoft.com/office/powerpoint/2010/main" val="157470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B6A4-30D3-F872-5D97-2DF52B1B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How solver error affect parameter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273EA-C779-DBE6-3E59-8BD9FACE4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  y’ = 2x + 5</a:t>
            </a:r>
          </a:p>
          <a:p>
            <a:r>
              <a:rPr lang="en-US" dirty="0"/>
              <a:t>We train </a:t>
            </a:r>
            <a:r>
              <a:rPr lang="en-US" dirty="0" err="1"/>
              <a:t>kx</a:t>
            </a:r>
            <a:r>
              <a:rPr lang="en-US" dirty="0"/>
              <a:t> + </a:t>
            </a:r>
            <a:r>
              <a:rPr lang="en-US" dirty="0" err="1"/>
              <a:t>r_theta</a:t>
            </a:r>
            <a:endParaRPr lang="en-US" dirty="0"/>
          </a:p>
          <a:p>
            <a:r>
              <a:rPr lang="en-US" dirty="0"/>
              <a:t>Result may be k = 1.2 </a:t>
            </a:r>
            <a:r>
              <a:rPr lang="en-US" dirty="0" err="1"/>
              <a:t>r_theta</a:t>
            </a:r>
            <a:r>
              <a:rPr lang="en-US" dirty="0"/>
              <a:t> = 0.8x+5 instead of k = 2, theta = 5</a:t>
            </a:r>
          </a:p>
        </p:txBody>
      </p:sp>
    </p:spTree>
    <p:extLst>
      <p:ext uri="{BB962C8B-B14F-4D97-AF65-F5344CB8AC3E}">
        <p14:creationId xmlns:p14="http://schemas.microsoft.com/office/powerpoint/2010/main" val="49402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291</Words>
  <Application>Microsoft Macintosh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Week 4</vt:lpstr>
      <vt:lpstr>     UDE</vt:lpstr>
      <vt:lpstr>How can we separate model error and solver error</vt:lpstr>
      <vt:lpstr>             Identifiability</vt:lpstr>
      <vt:lpstr>PowerPoint Presentation</vt:lpstr>
      <vt:lpstr>                    Random Solver</vt:lpstr>
      <vt:lpstr> At what condition we can say residual term is mainly learning the true physics.</vt:lpstr>
      <vt:lpstr> How solver error affect parameter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Lu Wang</cp:lastModifiedBy>
  <cp:revision>2</cp:revision>
  <dcterms:created xsi:type="dcterms:W3CDTF">2026-05-25T07:09:46Z</dcterms:created>
  <dcterms:modified xsi:type="dcterms:W3CDTF">2026-05-27T00:01:10Z</dcterms:modified>
</cp:coreProperties>
</file>