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113" d="100"/>
          <a:sy n="113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A692-3178-BDDE-F96A-2DAA41035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991B6-A1C5-5BDE-D90B-D8D31C814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6070B-3E71-2AC3-3392-19A3B0F7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E89E-34C0-146A-E11B-57E7F998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4844-69C7-4FF9-889F-1F87F4D3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0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8EC0-7806-FC34-323A-BCF765B96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A62F-F6D3-301B-A5BD-01EE1B3D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FCF71-996F-49B2-F249-27CDE0A7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7159-89D5-E6B6-CDC1-BBBDA4F3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6FD83-944E-A856-D292-24DC1FF5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7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51A7-8EAC-F10A-C76A-490CA550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D3D0C-3EE6-4874-1A7B-9A8318708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5E646-962E-DF61-92A2-5C07139B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6831-7D59-ADBA-7C34-3CAF4BA7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3C311-C23C-3BBB-C0BA-FF40B631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4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1697-E36B-4B1B-466D-36070E27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4F41-5994-E9B2-030C-CA43CB875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26001-7579-4C27-6FB0-38A5E2A8A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D7A3D-489C-3FA7-03A0-62B80869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37CA7-7557-D812-466F-4B2C9CAA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F1B79-8BD2-DB29-A379-E37F0D1A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0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CCFA-4B5E-DB85-61F2-010001E4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B0C40-2B44-8BB6-5FE8-D053AC1E7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8EBD0-0222-7FE3-FD77-37525E043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0CAE5-8EA4-D51D-9AC8-47F18EA16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D327B-9824-A4AA-3122-3A765FA36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D9662-DB99-5615-3ABA-61FF58BC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51904-2371-46D3-6B58-CFE4231C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C706C-E1AF-951D-366C-7A9FA8A0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4AA3-3CA4-A52B-35BF-72CF637D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AF13C-6A55-E942-7774-CD28D0E8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F3CB0-8CB6-E79B-C7DD-DFA51F0B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11ED3-719D-8249-53FF-3C86859B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9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9FBC8-2B38-1E61-4EC9-C66D6A0F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6A28E-E5A0-DC04-3D1E-8672F2C0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3C906-9C4C-DA5A-FCD7-243CE2FC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8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736E-1D5F-0B66-35FB-8F388180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4058C-B636-D74F-BA19-9681FF4D7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853D0-9AA3-701A-8E2B-BF4390489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DC32-AFE8-9246-2C03-45C8D749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02FAF-D5C7-C882-7B36-7B6EB2EF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BD06D-CF50-0B5D-F26F-50C1B488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0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565B-DE2A-6017-CF36-B5DCE1CA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3C9A7-3F1B-87DF-3A24-7B7AA1A4B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F7E44-3B3C-18EB-8004-E9BB19347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10A4A-EFD6-C2C1-976A-C366DC72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437C8-EC5B-393B-85D0-F5D75BA5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615FD-F015-4951-C479-F605C6D9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4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41BF-F718-256B-11F8-1A61BB21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5A8AC-B517-8725-8FC3-37334CF79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155F-2EBB-6C63-25D3-1BBC046D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C689D-C526-BE1C-6CD0-473246502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6E07A-92D2-DACA-1DCD-A280171A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5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4DBA41-2D8B-1BEE-331C-4C8107D0F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75EF3-4C6B-EFF9-8929-FF27F6AF8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596F2-8642-399F-57B9-4DE63DDD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4646-40E7-60B1-89D1-CD3E900C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D4B1-E58C-FD06-9C84-D6C91DD0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0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22F8-2A31-9780-0DB5-1C964903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91337-6784-F647-E323-9F3F7C8C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68183-8DB4-00B2-2F24-ED6BADA2E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FAF12-C827-FD48-B330-E61CBC531EB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AFD6E-E246-C4FE-4455-1559BD2B9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8520-81D1-122F-E9BC-78F57546D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80811-5A9A-4342-969A-64219291B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E72E-3B68-C1EA-D83F-E8E83CC859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0F306-6DE3-102E-5A5D-C160E4D6E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2025-B7E7-3C41-C4C2-684B1C2D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Model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BE2E-0BEF-90D9-0B44-3659ACBC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Difficulty of studying Residual Neural ODE directly: </a:t>
            </a:r>
          </a:p>
          <a:p>
            <a:r>
              <a:rPr lang="en-CA" dirty="0"/>
              <a:t>It is difficult to distinguish whether the learned residual term is compensating for missing physical dynamics or absorbing numerical solver errors.</a:t>
            </a:r>
          </a:p>
          <a:p>
            <a:r>
              <a:rPr lang="en-CA" dirty="0"/>
              <a:t>The decomposition between mechanistic dynamics and learned residual dynamics may become non-identifiable, making it difficult to determine how much of the system behavior is explained by each component and requiring appropriate regularization or inductive bias.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8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5DDD-0A2D-4758-AB62-516B39C6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    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464B-FCB5-02B9-CE71-C9293A1A6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dirty="0"/>
              <a:t>Standard Neural ODEs will first be used to study numerical error propagation in a controlled setting, focusing on trajectory accuracy, learned dynamics, and gradient sensitivity under different numerical integration schemes.</a:t>
            </a:r>
          </a:p>
          <a:p>
            <a:r>
              <a:rPr lang="en-CA" dirty="0"/>
              <a:t>Classical shooting-based parameter estimation methods will then be used to investigate how numerical integration errors propagate into sensitivity calculations and induce bias in recovered physical parameters.</a:t>
            </a:r>
          </a:p>
          <a:p>
            <a:r>
              <a:rPr lang="en-CA" dirty="0"/>
              <a:t>Residual Neural ODEs will finally be introduced as an extension to examine how solver-induced errors interact with hybrid physics-informed dynamics, including whether numerical artifacts are absorbed by learned residual components, mechanistic parameters, or both.</a:t>
            </a:r>
          </a:p>
          <a:p>
            <a:r>
              <a:rPr lang="en-CA" dirty="0"/>
              <a:t>For the same model, we will use the first Neural ODE and Classical shooting-based parameter estimation as baseline and </a:t>
            </a:r>
          </a:p>
        </p:txBody>
      </p:sp>
    </p:spTree>
    <p:extLst>
      <p:ext uri="{BB962C8B-B14F-4D97-AF65-F5344CB8AC3E}">
        <p14:creationId xmlns:p14="http://schemas.microsoft.com/office/powerpoint/2010/main" val="84518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E31E-ADB1-1DE3-B103-A43EE7F9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CA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C0E4-BC6C-D9D9-4C8C-1BB85E274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Main research question:</a:t>
            </a:r>
            <a:r>
              <a:rPr lang="en-CA" dirty="0"/>
              <a:t> How do numerical integration errors propagate through the training dynamics of residual Neural ODEs, and how do they affect parameter recovery and interpretability?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48CD-E9CC-42C5-7DC7-E88B372E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Damped nonlinear oscillator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FBDE-6EAA-91B3-A4C6-E7A8A45E7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dx/dt = v</a:t>
            </a:r>
          </a:p>
          <a:p>
            <a:r>
              <a:rPr lang="en-US" dirty="0"/>
              <a:t>dv/dt = -</a:t>
            </a:r>
            <a:r>
              <a:rPr lang="en-US" dirty="0" err="1"/>
              <a:t>ĉv</a:t>
            </a:r>
            <a:r>
              <a:rPr lang="en-US" dirty="0"/>
              <a:t> - </a:t>
            </a:r>
            <a:r>
              <a:rPr lang="en-US" dirty="0" err="1"/>
              <a:t>k̂x</a:t>
            </a:r>
            <a:r>
              <a:rPr lang="en-US" dirty="0"/>
              <a:t> - </a:t>
            </a:r>
            <a:r>
              <a:rPr lang="el-GR" dirty="0"/>
              <a:t>α̂</a:t>
            </a:r>
            <a:r>
              <a:rPr lang="en-US" dirty="0"/>
              <a:t>x³ + r</a:t>
            </a:r>
            <a:r>
              <a:rPr lang="el-GR" dirty="0"/>
              <a:t>θ(</a:t>
            </a:r>
            <a:r>
              <a:rPr lang="en-US" dirty="0" err="1"/>
              <a:t>x,v</a:t>
            </a:r>
            <a:r>
              <a:rPr lang="en-US" dirty="0"/>
              <a:t>)</a:t>
            </a:r>
          </a:p>
          <a:p>
            <a:r>
              <a:rPr lang="en-US" dirty="0"/>
              <a:t>Using synthetic data generated from the complete physical model, the true residual term should be zero. However, unlike classical parameter estimation, the residual Neural ODE includes a flexible neural residual term, so r</a:t>
            </a:r>
            <a:r>
              <a:rPr lang="el-GR" dirty="0"/>
              <a:t>θ(</a:t>
            </a:r>
            <a:r>
              <a:rPr lang="en-US" dirty="0" err="1"/>
              <a:t>x,v</a:t>
            </a:r>
            <a:r>
              <a:rPr lang="en-US" dirty="0"/>
              <a:t>) may still become nonzero during training. In this case, the residual term may compensate for numerical solver error, observational noise, or optimization artifacts rather than representing missing physics.</a:t>
            </a:r>
          </a:p>
          <a:p>
            <a:r>
              <a:rPr lang="en-US" dirty="0"/>
              <a:t>This complete-physics setting can therefore be used as a sanity check for the residual regularization term. A suitable regularization strength should encourage r</a:t>
            </a:r>
            <a:r>
              <a:rPr lang="el-GR" dirty="0"/>
              <a:t>θ(</a:t>
            </a:r>
            <a:r>
              <a:rPr lang="en-US" dirty="0" err="1"/>
              <a:t>x,v</a:t>
            </a:r>
            <a:r>
              <a:rPr lang="en-US" dirty="0"/>
              <a:t>) to remain close to zero when the mechanistic model is complete, while still allowing the residual term to learn meaningful corrections in </a:t>
            </a:r>
            <a:r>
              <a:rPr lang="en-US" dirty="0" err="1"/>
              <a:t>misspecified</a:t>
            </a:r>
            <a:r>
              <a:rPr lang="en-US" dirty="0"/>
              <a:t>-physics settings.</a:t>
            </a:r>
          </a:p>
        </p:txBody>
      </p:sp>
    </p:spTree>
    <p:extLst>
      <p:ext uri="{BB962C8B-B14F-4D97-AF65-F5344CB8AC3E}">
        <p14:creationId xmlns:p14="http://schemas.microsoft.com/office/powerpoint/2010/main" val="220072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35CF-223A-EB2B-53E0-905188ED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68DF8-E077-B315-92F0-280B00A5C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31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F06F9B-622E-8246-9583-7CE6AC25AEDF}">
  <we:reference id="4b785c87-866c-4bad-85d8-5d1ae467ac9a" version="3.23.0.0" store="EXCatalog" storeType="EXCatalog"/>
  <we:alternateReferences>
    <we:reference id="WA104381909" version="3.23.0.0" store="en-CA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393</Words>
  <Application>Microsoft Macintosh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Week 2</vt:lpstr>
      <vt:lpstr>   Model Formulation</vt:lpstr>
      <vt:lpstr>         Solution</vt:lpstr>
      <vt:lpstr> </vt:lpstr>
      <vt:lpstr>Damped nonlinear oscillator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1</cp:revision>
  <dcterms:created xsi:type="dcterms:W3CDTF">2026-05-08T04:17:43Z</dcterms:created>
  <dcterms:modified xsi:type="dcterms:W3CDTF">2026-05-11T20:05:36Z</dcterms:modified>
</cp:coreProperties>
</file>